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107899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62542"/>
                </a:solidFill>
              </a:defRPr>
            </a:pPr>
            <a:r>
              <a:t>Apex Planet Data Analytics</a:t>
            </a:r>
          </a:p>
          <a:p>
            <a:pPr>
              <a:defRPr sz="3200" b="1">
                <a:solidFill>
                  <a:srgbClr val="2D68AA"/>
                </a:solidFill>
              </a:defRPr>
            </a:pPr>
            <a:r>
              <a:t>Internship Portfolio</a:t>
            </a:r>
          </a:p>
          <a:p>
            <a:pPr>
              <a:defRPr sz="1800">
                <a:solidFill>
                  <a:srgbClr val="262D37"/>
                </a:solidFill>
              </a:defRPr>
            </a:pPr>
            <a:r>
              <a:t>Yogya Srivastava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10241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646E7D"/>
                </a:solidFill>
              </a:defRPr>
            </a:pPr>
            <a:r>
              <a:t>From raw data to validated insights and business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6E7D"/>
                </a:solidFill>
              </a:defRPr>
            </a:pPr>
            <a:r>
              <a:t>APEX PLANET DATA ANALYTICS INTERNSHIP  •  PORTFOLIO  |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62542"/>
                </a:solidFill>
              </a:defRPr>
            </a:pPr>
            <a:r>
              <a:t>Internship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E7D"/>
                </a:solidFill>
              </a:defRPr>
            </a:pPr>
            <a:r>
              <a:t>A four-stage progression through the analytics lifecycle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2062886" cy="1234440"/>
          </a:xfrm>
          <a:prstGeom prst="roundRect">
            <a:avLst/>
          </a:prstGeom>
          <a:solidFill>
            <a:srgbClr val="F5F7FA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810512"/>
            <a:ext cx="184343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68AA"/>
                </a:solidFill>
              </a:defRPr>
            </a:pPr>
            <a:r>
              <a:t>1,000</a:t>
            </a:r>
          </a:p>
          <a:p>
            <a:pPr algn="ctr">
              <a:defRPr sz="900">
                <a:solidFill>
                  <a:srgbClr val="646E7D"/>
                </a:solidFill>
              </a:defRPr>
            </a:pPr>
            <a:r>
              <a:t>Transactions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67558" y="1645920"/>
            <a:ext cx="2062886" cy="1234440"/>
          </a:xfrm>
          <a:prstGeom prst="roundRect">
            <a:avLst/>
          </a:prstGeom>
          <a:solidFill>
            <a:srgbClr val="F5F7FA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77286" y="1810512"/>
            <a:ext cx="184343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68AA"/>
                </a:solidFill>
              </a:defRPr>
            </a:pPr>
            <a:r>
              <a:t>947</a:t>
            </a:r>
          </a:p>
          <a:p>
            <a:pPr algn="ctr">
              <a:defRPr sz="900">
                <a:solidFill>
                  <a:srgbClr val="646E7D"/>
                </a:solidFill>
              </a:defRPr>
            </a:pPr>
            <a:r>
              <a:t>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5036" y="1645920"/>
            <a:ext cx="2062886" cy="1234440"/>
          </a:xfrm>
          <a:prstGeom prst="roundRect">
            <a:avLst/>
          </a:prstGeom>
          <a:solidFill>
            <a:srgbClr val="F5F7FA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04764" y="1810512"/>
            <a:ext cx="184343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68AA"/>
                </a:solidFill>
              </a:defRPr>
            </a:pPr>
            <a:r>
              <a:t>₹139.40M</a:t>
            </a:r>
          </a:p>
          <a:p>
            <a:pPr algn="ctr">
              <a:defRPr sz="900">
                <a:solidFill>
                  <a:srgbClr val="646E7D"/>
                </a:solidFill>
              </a:defRPr>
            </a:pPr>
            <a:r>
              <a:t>Revenue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22515" y="1645920"/>
            <a:ext cx="2062886" cy="1234440"/>
          </a:xfrm>
          <a:prstGeom prst="roundRect">
            <a:avLst/>
          </a:prstGeom>
          <a:solidFill>
            <a:srgbClr val="F5F7FA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32243" y="1810512"/>
            <a:ext cx="184343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68AA"/>
                </a:solidFill>
              </a:defRPr>
            </a:pPr>
            <a:r>
              <a:t>94.51%</a:t>
            </a:r>
          </a:p>
          <a:p>
            <a:pPr algn="ctr">
              <a:defRPr sz="900">
                <a:solidFill>
                  <a:srgbClr val="646E7D"/>
                </a:solidFill>
              </a:defRPr>
            </a:pPr>
            <a:r>
              <a:t>One-Time Customers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49993" y="1645920"/>
            <a:ext cx="2062886" cy="1234440"/>
          </a:xfrm>
          <a:prstGeom prst="roundRect">
            <a:avLst/>
          </a:prstGeom>
          <a:solidFill>
            <a:srgbClr val="F5F7FA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59721" y="1810512"/>
            <a:ext cx="184343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68AA"/>
                </a:solidFill>
              </a:defRPr>
            </a:pPr>
            <a:r>
              <a:t>5.49%</a:t>
            </a:r>
          </a:p>
          <a:p>
            <a:pPr algn="ctr">
              <a:defRPr sz="900">
                <a:solidFill>
                  <a:srgbClr val="646E7D"/>
                </a:solidFill>
              </a:defRPr>
            </a:pPr>
            <a:r>
              <a:t>Repeat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461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62D37"/>
                </a:solidFill>
              </a:defRPr>
            </a:pPr>
            <a:r>
              <a:t>Built an end-to-end workflow across four analytical tasks.</a:t>
            </a:r>
          </a:p>
          <a:p>
            <a:pPr>
              <a:spcAft>
                <a:spcPts val="1200"/>
              </a:spcAft>
              <a:defRPr sz="1700">
                <a:solidFill>
                  <a:srgbClr val="262D37"/>
                </a:solidFill>
              </a:defRPr>
            </a:pPr>
            <a:r>
              <a:t>Progressed from data quality and EDA to customer intelligence, statistics, and stakeholder storytelling.</a:t>
            </a:r>
          </a:p>
          <a:p>
            <a:pPr>
              <a:spcAft>
                <a:spcPts val="1200"/>
              </a:spcAft>
              <a:defRPr sz="1700">
                <a:solidFill>
                  <a:srgbClr val="262D37"/>
                </a:solidFill>
              </a:defRPr>
            </a:pPr>
            <a:r>
              <a:t>Focused on producing evidence that can support business decisions.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6E7D"/>
                </a:solidFill>
              </a:defRPr>
            </a:pPr>
            <a:r>
              <a:t>APEX PLANET DATA ANALYTICS INTERNSHIP  •  PORTFOLIO  |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62542"/>
                </a:solidFill>
              </a:defRPr>
            </a:pPr>
            <a:r>
              <a:t>My Analytics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E7D"/>
                </a:solidFill>
              </a:defRPr>
            </a:pPr>
            <a:r>
              <a:t>Skills and analytical maturity developed across the four tasks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828800"/>
            <a:ext cx="2697480" cy="2286000"/>
          </a:xfrm>
          <a:prstGeom prst="roundRect">
            <a:avLst/>
          </a:prstGeom>
          <a:solidFill>
            <a:srgbClr val="F5F7FA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057400"/>
            <a:ext cx="237744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A8C8C"/>
                </a:solidFill>
              </a:defRPr>
            </a:pPr>
            <a:r>
              <a:t>01</a:t>
            </a:r>
          </a:p>
          <a:p>
            <a:pPr>
              <a:defRPr sz="1700" b="1">
                <a:solidFill>
                  <a:srgbClr val="162542"/>
                </a:solidFill>
              </a:defRPr>
            </a:pPr>
            <a:r>
              <a:t>Data Wrangling</a:t>
            </a:r>
          </a:p>
          <a:p>
            <a:pPr>
              <a:defRPr sz="1100">
                <a:solidFill>
                  <a:srgbClr val="646E7D"/>
                </a:solidFill>
              </a:defRPr>
            </a:pPr>
            <a:r>
              <a:t>Clean • Validate •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47288" y="1828800"/>
            <a:ext cx="2697480" cy="2286000"/>
          </a:xfrm>
          <a:prstGeom prst="roundRect">
            <a:avLst/>
          </a:prstGeom>
          <a:solidFill>
            <a:srgbClr val="F5F7FA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2057400"/>
            <a:ext cx="237744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A8C8C"/>
                </a:solidFill>
              </a:defRPr>
            </a:pPr>
            <a:r>
              <a:t>02</a:t>
            </a:r>
          </a:p>
          <a:p>
            <a:pPr>
              <a:defRPr sz="1700" b="1">
                <a:solidFill>
                  <a:srgbClr val="162542"/>
                </a:solidFill>
              </a:defRPr>
            </a:pPr>
            <a:r>
              <a:t>EDA &amp; BI</a:t>
            </a:r>
          </a:p>
          <a:p>
            <a:pPr>
              <a:defRPr sz="1100">
                <a:solidFill>
                  <a:srgbClr val="646E7D"/>
                </a:solidFill>
              </a:defRPr>
            </a:pPr>
            <a:r>
              <a:t>Explore • SQL • Visualize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0216" y="1828800"/>
            <a:ext cx="2697480" cy="2286000"/>
          </a:xfrm>
          <a:prstGeom prst="roundRect">
            <a:avLst/>
          </a:prstGeom>
          <a:solidFill>
            <a:srgbClr val="F5F7FA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8" y="2057400"/>
            <a:ext cx="237744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A8C8C"/>
                </a:solidFill>
              </a:defRPr>
            </a:pPr>
            <a:r>
              <a:t>03</a:t>
            </a:r>
          </a:p>
          <a:p>
            <a:pPr>
              <a:defRPr sz="1700" b="1">
                <a:solidFill>
                  <a:srgbClr val="162542"/>
                </a:solidFill>
              </a:defRPr>
            </a:pPr>
            <a:r>
              <a:t>Customer Intelligence</a:t>
            </a:r>
          </a:p>
          <a:p>
            <a:pPr>
              <a:defRPr sz="1100">
                <a:solidFill>
                  <a:srgbClr val="646E7D"/>
                </a:solidFill>
              </a:defRPr>
            </a:pPr>
            <a:r>
              <a:t>RFM • Segment • Power BI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53144" y="1828800"/>
            <a:ext cx="2697480" cy="2286000"/>
          </a:xfrm>
          <a:prstGeom prst="roundRect">
            <a:avLst/>
          </a:prstGeom>
          <a:solidFill>
            <a:srgbClr val="F5F7FA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17736" y="2057400"/>
            <a:ext cx="237744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A8C8C"/>
                </a:solidFill>
              </a:defRPr>
            </a:pPr>
            <a:r>
              <a:t>04</a:t>
            </a:r>
          </a:p>
          <a:p>
            <a:pPr>
              <a:defRPr sz="1700" b="1">
                <a:solidFill>
                  <a:srgbClr val="162542"/>
                </a:solidFill>
              </a:defRPr>
            </a:pPr>
            <a:r>
              <a:t>Storytelling</a:t>
            </a:r>
          </a:p>
          <a:p>
            <a:pPr>
              <a:defRPr sz="1100">
                <a:solidFill>
                  <a:srgbClr val="646E7D"/>
                </a:solidFill>
              </a:defRPr>
            </a:pPr>
            <a:r>
              <a:t>Test • Interpret • Recommend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6E7D"/>
                </a:solidFill>
              </a:defRPr>
            </a:pPr>
            <a:r>
              <a:t>APEX PLANET DATA ANALYTICS INTERNSHIP  •  PORTFOLIO  |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62542"/>
                </a:solidFill>
              </a:defRPr>
            </a:pPr>
            <a:r>
              <a:t>Task 1 — Data Immersion &amp; Wrangling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E7D"/>
                </a:solidFill>
              </a:defRPr>
            </a:pPr>
            <a:r>
              <a:t>Building a reliable foundation for downstream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262D37"/>
                </a:solidFill>
              </a:defRPr>
            </a:pPr>
            <a:r>
              <a:t>1,000 records processed with 33 missing cells resolved.</a:t>
            </a:r>
          </a:p>
          <a:p>
            <a:pPr>
              <a:spcAft>
                <a:spcPts val="1200"/>
              </a:spcAft>
              <a:defRPr sz="1600">
                <a:solidFill>
                  <a:srgbClr val="262D37"/>
                </a:solidFill>
              </a:defRPr>
            </a:pPr>
            <a:r>
              <a:t>0 exact duplicate rows and 0 sales calculation errors.</a:t>
            </a:r>
          </a:p>
          <a:p>
            <a:pPr>
              <a:spcAft>
                <a:spcPts val="1200"/>
              </a:spcAft>
              <a:defRPr sz="1600">
                <a:solidFill>
                  <a:srgbClr val="262D37"/>
                </a:solidFill>
              </a:defRPr>
            </a:pPr>
            <a:r>
              <a:t>105 customer consistency records flagged for review.</a:t>
            </a:r>
          </a:p>
          <a:p>
            <a:pPr>
              <a:spcAft>
                <a:spcPts val="1200"/>
              </a:spcAft>
              <a:defRPr sz="1600">
                <a:solidFill>
                  <a:srgbClr val="262D37"/>
                </a:solidFill>
              </a:defRPr>
            </a:pPr>
            <a:r>
              <a:t>19 potential sales outliers identified rather than blindly removed.</a:t>
            </a:r>
          </a:p>
          <a:p>
            <a:pPr>
              <a:spcAft>
                <a:spcPts val="1200"/>
              </a:spcAft>
              <a:defRPr sz="1600">
                <a:solidFill>
                  <a:srgbClr val="262D37"/>
                </a:solidFill>
              </a:defRPr>
            </a:pPr>
            <a:r>
              <a:t>12/12 automated validation checks passed — 100%.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800600"/>
            <a:ext cx="2062886" cy="1234440"/>
          </a:xfrm>
          <a:prstGeom prst="roundRect">
            <a:avLst/>
          </a:prstGeom>
          <a:solidFill>
            <a:srgbClr val="F5F7FA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965192"/>
            <a:ext cx="184343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68AA"/>
                </a:solidFill>
              </a:defRPr>
            </a:pPr>
            <a:r>
              <a:t>12/12</a:t>
            </a:r>
          </a:p>
          <a:p>
            <a:pPr algn="ctr">
              <a:defRPr sz="900">
                <a:solidFill>
                  <a:srgbClr val="646E7D"/>
                </a:solidFill>
              </a:defRPr>
            </a:pPr>
            <a:r>
              <a:t>Validation Checks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67558" y="4800600"/>
            <a:ext cx="2062886" cy="1234440"/>
          </a:xfrm>
          <a:prstGeom prst="roundRect">
            <a:avLst/>
          </a:prstGeom>
          <a:solidFill>
            <a:srgbClr val="F5F7FA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7286" y="4965192"/>
            <a:ext cx="184343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68AA"/>
                </a:solidFill>
              </a:defRPr>
            </a:pPr>
            <a:r>
              <a:t>33</a:t>
            </a:r>
          </a:p>
          <a:p>
            <a:pPr algn="ctr">
              <a:defRPr sz="900">
                <a:solidFill>
                  <a:srgbClr val="646E7D"/>
                </a:solidFill>
              </a:defRPr>
            </a:pPr>
            <a:r>
              <a:t>Missing Cells Resolved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95036" y="4800600"/>
            <a:ext cx="2062886" cy="1234440"/>
          </a:xfrm>
          <a:prstGeom prst="roundRect">
            <a:avLst/>
          </a:prstGeom>
          <a:solidFill>
            <a:srgbClr val="F5F7FA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04764" y="4965192"/>
            <a:ext cx="184343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68AA"/>
                </a:solidFill>
              </a:defRPr>
            </a:pPr>
            <a:r>
              <a:t>19</a:t>
            </a:r>
          </a:p>
          <a:p>
            <a:pPr algn="ctr">
              <a:defRPr sz="900">
                <a:solidFill>
                  <a:srgbClr val="646E7D"/>
                </a:solidFill>
              </a:defRPr>
            </a:pPr>
            <a:r>
              <a:t>Potential Outliers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6E7D"/>
                </a:solidFill>
              </a:defRPr>
            </a:pPr>
            <a:r>
              <a:t>APEX PLANET DATA ANALYTICS INTERNSHIP  •  PORTFOLIO  |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62542"/>
                </a:solidFill>
              </a:defRPr>
            </a:pPr>
            <a:r>
              <a:t>Task 2 — EDA &amp; Business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E7D"/>
                </a:solidFill>
              </a:defRPr>
            </a:pPr>
            <a:r>
              <a:t>Moving from clean data to business questions and analytical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262D37"/>
                </a:solidFill>
              </a:defRPr>
            </a:pPr>
            <a:r>
              <a:t>Answered 7 business questions using SQLite and multi-table SQL.</a:t>
            </a:r>
          </a:p>
          <a:p>
            <a:pPr>
              <a:spcAft>
                <a:spcPts val="1200"/>
              </a:spcAft>
              <a:defRPr sz="1600">
                <a:solidFill>
                  <a:srgbClr val="262D37"/>
                </a:solidFill>
              </a:defRPr>
            </a:pPr>
            <a:r>
              <a:t>Performed descriptive, categorical, correlation, and multivariate analysis.</a:t>
            </a:r>
          </a:p>
          <a:p>
            <a:pPr>
              <a:spcAft>
                <a:spcPts val="1200"/>
              </a:spcAft>
              <a:defRPr sz="1600">
                <a:solidFill>
                  <a:srgbClr val="262D37"/>
                </a:solidFill>
              </a:defRPr>
            </a:pPr>
            <a:r>
              <a:t>Built a static Excel dashboard with KPI cards, charts, and business insights.</a:t>
            </a:r>
          </a:p>
          <a:p>
            <a:pPr>
              <a:spcAft>
                <a:spcPts val="1200"/>
              </a:spcAft>
              <a:defRPr sz="1600">
                <a:solidFill>
                  <a:srgbClr val="262D37"/>
                </a:solidFill>
              </a:defRPr>
            </a:pPr>
            <a:r>
              <a:t>Electronics generated 36.43% of total sales; Laptop led product revenue at ~₹25.44M.</a:t>
            </a:r>
          </a:p>
          <a:p>
            <a:pPr>
              <a:spcAft>
                <a:spcPts val="1200"/>
              </a:spcAft>
              <a:defRPr sz="1600">
                <a:solidFill>
                  <a:srgbClr val="262D37"/>
                </a:solidFill>
              </a:defRPr>
            </a:pPr>
            <a:r>
              <a:t>Unit Price ↔ Total Sales: 0.6863; Quantity ↔ Total Sales: 0.6466.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6E7D"/>
                </a:solidFill>
              </a:defRPr>
            </a:pPr>
            <a:r>
              <a:t>APEX PLANET DATA ANALYTICS INTERNSHIP  •  PORTFOLIO  |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62542"/>
                </a:solidFill>
              </a:defRPr>
            </a:pPr>
            <a:r>
              <a:t>Task 3 — Customer Intelligence &amp; Interactive 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E7D"/>
                </a:solidFill>
              </a:defRPr>
            </a:pPr>
            <a:r>
              <a:t>Using RFM and Power BI to turn customer behavior into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65836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262D37"/>
                </a:solidFill>
              </a:defRPr>
            </a:pPr>
            <a:r>
              <a:t>Created six RFM-based customer segments.</a:t>
            </a:r>
          </a:p>
          <a:p>
            <a:pPr>
              <a:spcAft>
                <a:spcPts val="1200"/>
              </a:spcAft>
              <a:defRPr sz="1600">
                <a:solidFill>
                  <a:srgbClr val="262D37"/>
                </a:solidFill>
              </a:defRPr>
            </a:pPr>
            <a:r>
              <a:t>Built a Power BI dashboard with KPI cards, interactive slicers, segment analysis, and a recency-vs-monetary scatter plot.</a:t>
            </a:r>
          </a:p>
          <a:p>
            <a:pPr>
              <a:spcAft>
                <a:spcPts val="1200"/>
              </a:spcAft>
              <a:defRPr sz="1600">
                <a:solidFill>
                  <a:srgbClr val="262D37"/>
                </a:solidFill>
              </a:defRPr>
            </a:pPr>
            <a:r>
              <a:t>Defined Total Revenue, Customer Count, Repeat Customer Rate, Average Order Value, and Revenue per Customer.</a:t>
            </a:r>
          </a:p>
          <a:p>
            <a:pPr>
              <a:spcAft>
                <a:spcPts val="1200"/>
              </a:spcAft>
              <a:defRPr sz="1600">
                <a:solidFill>
                  <a:srgbClr val="262D37"/>
                </a:solidFill>
              </a:defRPr>
            </a:pPr>
            <a:r>
              <a:t>Identified 460 One-Time Dormant customers and 10 high-value At-Risk customers.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800600"/>
            <a:ext cx="2062886" cy="1234440"/>
          </a:xfrm>
          <a:prstGeom prst="roundRect">
            <a:avLst/>
          </a:prstGeom>
          <a:solidFill>
            <a:srgbClr val="F5F7FA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965192"/>
            <a:ext cx="184343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68AA"/>
                </a:solidFill>
              </a:defRPr>
            </a:pPr>
            <a:r>
              <a:t>6</a:t>
            </a:r>
          </a:p>
          <a:p>
            <a:pPr algn="ctr">
              <a:defRPr sz="900">
                <a:solidFill>
                  <a:srgbClr val="646E7D"/>
                </a:solidFill>
              </a:defRPr>
            </a:pPr>
            <a:r>
              <a:t>RFM Segments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67558" y="4800600"/>
            <a:ext cx="2062886" cy="1234440"/>
          </a:xfrm>
          <a:prstGeom prst="roundRect">
            <a:avLst/>
          </a:prstGeom>
          <a:solidFill>
            <a:srgbClr val="F5F7FA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7286" y="4965192"/>
            <a:ext cx="184343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68AA"/>
                </a:solidFill>
              </a:defRPr>
            </a:pPr>
            <a:r>
              <a:t>460</a:t>
            </a:r>
          </a:p>
          <a:p>
            <a:pPr algn="ctr">
              <a:defRPr sz="900">
                <a:solidFill>
                  <a:srgbClr val="646E7D"/>
                </a:solidFill>
              </a:defRPr>
            </a:pPr>
            <a:r>
              <a:t>One-Time Dormant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95036" y="4800600"/>
            <a:ext cx="2062886" cy="1234440"/>
          </a:xfrm>
          <a:prstGeom prst="roundRect">
            <a:avLst/>
          </a:prstGeom>
          <a:solidFill>
            <a:srgbClr val="F5F7FA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04764" y="4965192"/>
            <a:ext cx="184343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68AA"/>
                </a:solidFill>
              </a:defRPr>
            </a:pPr>
            <a:r>
              <a:t>10</a:t>
            </a:r>
          </a:p>
          <a:p>
            <a:pPr algn="ctr">
              <a:defRPr sz="900">
                <a:solidFill>
                  <a:srgbClr val="646E7D"/>
                </a:solidFill>
              </a:defRPr>
            </a:pPr>
            <a:r>
              <a:t>At-Risk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6E7D"/>
                </a:solidFill>
              </a:defRPr>
            </a:pPr>
            <a:r>
              <a:t>APEX PLANET DATA ANALYTICS INTERNSHIP  •  PORTFOLIO  |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62542"/>
                </a:solidFill>
              </a:defRPr>
            </a:pPr>
            <a:r>
              <a:t>Task 4 — Data Storytelling &amp; Statistical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E7D"/>
                </a:solidFill>
              </a:defRPr>
            </a:pPr>
            <a:r>
              <a:t>Integrating the previous tasks into an evidence-based business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50">
                <a:solidFill>
                  <a:srgbClr val="262D37"/>
                </a:solidFill>
              </a:defRPr>
            </a:pPr>
            <a:r>
              <a:t>Built a stakeholder-ready narrative: Revenue → Retention Gap → RFM Segmentation → Statistical Validation → Action.</a:t>
            </a:r>
          </a:p>
          <a:p>
            <a:pPr>
              <a:spcAft>
                <a:spcPts val="1200"/>
              </a:spcAft>
              <a:defRPr sz="1550">
                <a:solidFill>
                  <a:srgbClr val="262D37"/>
                </a:solidFill>
              </a:defRPr>
            </a:pPr>
            <a:r>
              <a:t>Performed a customer-level two-sided Welch independent-samples t-test.</a:t>
            </a:r>
          </a:p>
          <a:p>
            <a:pPr>
              <a:spcAft>
                <a:spcPts val="1200"/>
              </a:spcAft>
              <a:defRPr sz="1550">
                <a:solidFill>
                  <a:srgbClr val="262D37"/>
                </a:solidFill>
              </a:defRPr>
            </a:pPr>
            <a:r>
              <a:t>913 customers were analyzed after excluding inconsistent-gender records.</a:t>
            </a:r>
          </a:p>
          <a:p>
            <a:pPr>
              <a:spcAft>
                <a:spcPts val="1200"/>
              </a:spcAft>
              <a:defRPr sz="1550">
                <a:solidFill>
                  <a:srgbClr val="262D37"/>
                </a:solidFill>
              </a:defRPr>
            </a:pPr>
            <a:r>
              <a:t>p = 0.534797; 95% CI = −₹10,505.79 to ₹20,230.35; Cohen's d = 0.041116.</a:t>
            </a:r>
          </a:p>
          <a:p>
            <a:pPr>
              <a:spcAft>
                <a:spcPts val="1200"/>
              </a:spcAft>
              <a:defRPr sz="1550">
                <a:solidFill>
                  <a:srgbClr val="262D37"/>
                </a:solidFill>
              </a:defRPr>
            </a:pPr>
            <a:r>
              <a:t>Conclusion: insufficient evidence that gender is a meaningful driver of customer monetary value.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6E7D"/>
                </a:solidFill>
              </a:defRPr>
            </a:pPr>
            <a:r>
              <a:t>APEX PLANET DATA ANALYTICS INTERNSHIP  •  PORTFOLIO  |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62542"/>
                </a:solidFill>
              </a:defRPr>
            </a:pPr>
            <a:r>
              <a:t>Key Business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E7D"/>
                </a:solidFill>
              </a:defRPr>
            </a:pPr>
            <a:r>
              <a:t>What the combined analysis says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62D37"/>
                </a:solidFill>
              </a:defRPr>
            </a:pPr>
            <a:r>
              <a:t>Strong revenue foundation: ₹139.40M across the analyzed transactions.</a:t>
            </a:r>
          </a:p>
          <a:p>
            <a:pPr>
              <a:spcAft>
                <a:spcPts val="1200"/>
              </a:spcAft>
              <a:defRPr sz="1700">
                <a:solidFill>
                  <a:srgbClr val="262D37"/>
                </a:solidFill>
              </a:defRPr>
            </a:pPr>
            <a:r>
              <a:t>Electronics is the leading category at 36.43% of revenue.</a:t>
            </a:r>
          </a:p>
          <a:p>
            <a:pPr>
              <a:spcAft>
                <a:spcPts val="1200"/>
              </a:spcAft>
              <a:defRPr sz="1700">
                <a:solidFill>
                  <a:srgbClr val="262D37"/>
                </a:solidFill>
              </a:defRPr>
            </a:pPr>
            <a:r>
              <a:t>94.51% of customers made only one transaction — the clearest growth opportunity.</a:t>
            </a:r>
          </a:p>
          <a:p>
            <a:pPr>
              <a:spcAft>
                <a:spcPts val="1200"/>
              </a:spcAft>
              <a:defRPr sz="1700">
                <a:solidFill>
                  <a:srgbClr val="262D37"/>
                </a:solidFill>
              </a:defRPr>
            </a:pPr>
            <a:r>
              <a:t>RFM identifies audiences for reactivation, conversion, nurturing, protection, and recovery.</a:t>
            </a:r>
          </a:p>
          <a:p>
            <a:pPr>
              <a:spcAft>
                <a:spcPts val="1200"/>
              </a:spcAft>
              <a:defRPr sz="1700">
                <a:solidFill>
                  <a:srgbClr val="262D37"/>
                </a:solidFill>
              </a:defRPr>
            </a:pPr>
            <a:r>
              <a:t>Statistical testing shows why descriptive differences should not automatically become business assumptions.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6E7D"/>
                </a:solidFill>
              </a:defRPr>
            </a:pPr>
            <a:r>
              <a:t>APEX PLANET DATA ANALYTICS INTERNSHIP  •  PORTFOLIO  |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62542"/>
                </a:solidFill>
              </a:defRPr>
            </a:pPr>
            <a:r>
              <a:t>Technical Skills Developed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E7D"/>
                </a:solidFill>
              </a:defRPr>
            </a:pPr>
            <a:r>
              <a:t>A practical analytics toolkit built across the internship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2D68AA"/>
                </a:solidFill>
              </a:defRPr>
            </a:pPr>
            <a:r>
              <a:t>Data</a:t>
            </a:r>
          </a:p>
          <a:p>
            <a:pPr>
              <a:defRPr sz="1300">
                <a:solidFill>
                  <a:srgbClr val="262D37"/>
                </a:solidFill>
              </a:defRPr>
            </a:pPr>
            <a:r>
              <a:t>Python • Pandas • NumPy • Cleaning • Validation • Feature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50008"/>
            <a:ext cx="105156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2D68AA"/>
                </a:solidFill>
              </a:defRPr>
            </a:pPr>
            <a:r>
              <a:t>Analysis</a:t>
            </a:r>
          </a:p>
          <a:p>
            <a:pPr>
              <a:defRPr sz="1300">
                <a:solidFill>
                  <a:srgbClr val="262D37"/>
                </a:solidFill>
              </a:defRPr>
            </a:pPr>
            <a:r>
              <a:t>EDA • Statistics • Correlation • RFM • Customer Segmentation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82696"/>
            <a:ext cx="105156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2D68AA"/>
                </a:solidFill>
              </a:defRPr>
            </a:pPr>
            <a:r>
              <a:t>BI</a:t>
            </a:r>
          </a:p>
          <a:p>
            <a:pPr>
              <a:defRPr sz="1300">
                <a:solidFill>
                  <a:srgbClr val="262D37"/>
                </a:solidFill>
              </a:defRPr>
            </a:pPr>
            <a:r>
              <a:t>SQL • SQLite • Excel • Power BI • DAX • KPI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15384"/>
            <a:ext cx="105156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2D68AA"/>
                </a:solidFill>
              </a:defRPr>
            </a:pPr>
            <a:r>
              <a:t>Communication</a:t>
            </a:r>
          </a:p>
          <a:p>
            <a:pPr>
              <a:defRPr sz="1300">
                <a:solidFill>
                  <a:srgbClr val="262D37"/>
                </a:solidFill>
              </a:defRPr>
            </a:pPr>
            <a:r>
              <a:t>Visualization • Data Storytelling • PowerPoint • Business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48072"/>
            <a:ext cx="105156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2D68AA"/>
                </a:solidFill>
              </a:defRPr>
            </a:pPr>
            <a:r>
              <a:t>Engineering</a:t>
            </a:r>
          </a:p>
          <a:p>
            <a:pPr>
              <a:defRPr sz="1300">
                <a:solidFill>
                  <a:srgbClr val="262D37"/>
                </a:solidFill>
              </a:defRPr>
            </a:pPr>
            <a:r>
              <a:t>Virtual Environments • Reproducible Scripts • Git • GitHub • Documentation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6E7D"/>
                </a:solidFill>
              </a:defRPr>
            </a:pPr>
            <a:r>
              <a:t>APEX PLANET DATA ANALYTICS INTERNSHIP  •  PORTFOLIO  |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62542"/>
                </a:solidFill>
              </a:defRPr>
            </a:pPr>
            <a:r>
              <a:t>What I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E7D"/>
                </a:solidFill>
              </a:defRPr>
            </a:pPr>
            <a:r>
              <a:t>From technical execution toward evidence-based decision making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62D37"/>
                </a:solidFill>
              </a:defRPr>
            </a:pPr>
            <a:r>
              <a:t>Data quality comes first: anomalies must be understood before they are removed or corrected.</a:t>
            </a:r>
          </a:p>
          <a:p>
            <a:pPr>
              <a:spcAft>
                <a:spcPts val="1200"/>
              </a:spcAft>
              <a:defRPr sz="1700">
                <a:solidFill>
                  <a:srgbClr val="262D37"/>
                </a:solidFill>
              </a:defRPr>
            </a:pPr>
            <a:r>
              <a:t>Analytical grain matters: customer-level, transaction-level, and relational analyses require deliberate modeling choices.</a:t>
            </a:r>
          </a:p>
          <a:p>
            <a:pPr>
              <a:spcAft>
                <a:spcPts val="1200"/>
              </a:spcAft>
              <a:defRPr sz="1700">
                <a:solidFill>
                  <a:srgbClr val="262D37"/>
                </a:solidFill>
              </a:defRPr>
            </a:pPr>
            <a:r>
              <a:t>Dashboards need a purpose: visuals and KPIs should help answer business questions.</a:t>
            </a:r>
          </a:p>
          <a:p>
            <a:pPr>
              <a:spcAft>
                <a:spcPts val="1200"/>
              </a:spcAft>
              <a:defRPr sz="1700">
                <a:solidFill>
                  <a:srgbClr val="262D37"/>
                </a:solidFill>
              </a:defRPr>
            </a:pPr>
            <a:r>
              <a:t>Statistical significance matters: visible differences are not automatically meaningful.</a:t>
            </a:r>
          </a:p>
          <a:p>
            <a:pPr>
              <a:spcAft>
                <a:spcPts val="1200"/>
              </a:spcAft>
              <a:defRPr sz="1700">
                <a:solidFill>
                  <a:srgbClr val="262D37"/>
                </a:solidFill>
              </a:defRPr>
            </a:pPr>
            <a:r>
              <a:t>Good analytics ends with action: insights should lead to clear, defensible recommendations.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6E7D"/>
                </a:solidFill>
              </a:defRPr>
            </a:pPr>
            <a:r>
              <a:t>APEX PLANET DATA ANALYTICS INTERNSHIP  •  PORTFOLIO  |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62542"/>
                </a:solidFill>
              </a:defRPr>
            </a:pPr>
            <a:r>
              <a:t>Portfolio &amp; Project Repositories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E7D"/>
                </a:solidFill>
              </a:defRPr>
            </a:pPr>
            <a:r>
              <a:t>Detailed implementations, outputs, and documentation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2D68AA"/>
                </a:solidFill>
              </a:defRPr>
            </a:pPr>
            <a:r>
              <a:t>Task 1</a:t>
            </a:r>
          </a:p>
          <a:p>
            <a:pPr>
              <a:defRPr sz="1300">
                <a:solidFill>
                  <a:srgbClr val="262D37"/>
                </a:solidFill>
              </a:defRPr>
            </a:pPr>
            <a:r>
              <a:t>https://github.com/YogyaSrivastava134/Apex-Planet-Data-Analytics-Task-1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2D68AA"/>
                </a:solidFill>
              </a:defRPr>
            </a:pPr>
            <a:r>
              <a:t>Task 2</a:t>
            </a:r>
          </a:p>
          <a:p>
            <a:pPr>
              <a:defRPr sz="1300">
                <a:solidFill>
                  <a:srgbClr val="262D37"/>
                </a:solidFill>
              </a:defRPr>
            </a:pPr>
            <a:r>
              <a:t>https://github.com/YogyaSrivastava134/Apex-Planet-Data-Analytics-Task-2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461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2D68AA"/>
                </a:solidFill>
              </a:defRPr>
            </a:pPr>
            <a:r>
              <a:t>Task 3</a:t>
            </a:r>
          </a:p>
          <a:p>
            <a:pPr>
              <a:defRPr sz="1300">
                <a:solidFill>
                  <a:srgbClr val="262D37"/>
                </a:solidFill>
              </a:defRPr>
            </a:pPr>
            <a:r>
              <a:t>https://github.com/YogyaSrivastava134/Apex-Planet-Data-Analytics-Task-3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605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2D68AA"/>
                </a:solidFill>
              </a:defRPr>
            </a:pPr>
            <a:r>
              <a:t>Task 4</a:t>
            </a:r>
          </a:p>
          <a:p>
            <a:pPr>
              <a:defRPr sz="1300">
                <a:solidFill>
                  <a:srgbClr val="262D37"/>
                </a:solidFill>
              </a:defRPr>
            </a:pPr>
            <a:r>
              <a:t>https://github.com/YogyaSrivastava134/Apex-Planet-Data-Analytics-Task-4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749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2D68AA"/>
                </a:solidFill>
              </a:defRPr>
            </a:pPr>
            <a:r>
              <a:t>Master</a:t>
            </a:r>
          </a:p>
          <a:p>
            <a:pPr>
              <a:defRPr sz="1300">
                <a:solidFill>
                  <a:srgbClr val="262D37"/>
                </a:solidFill>
              </a:defRPr>
            </a:pPr>
            <a:r>
              <a:t>https://github.com/YogyaSrivastava134/Yogya-Srivastava-Data-Analyst-Internship-Portfolio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6E7D"/>
                </a:solidFill>
              </a:defRPr>
            </a:pPr>
            <a:r>
              <a:t>APEX PLANET DATA ANALYTICS INTERNSHIP  •  PORTFOLIO  |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5156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62542"/>
                </a:solidFill>
              </a:defRPr>
            </a:pPr>
            <a:r>
              <a:t>Final Takeaway</a:t>
            </a:r>
          </a:p>
          <a:p>
            <a:pPr>
              <a:defRPr sz="2100" b="1">
                <a:solidFill>
                  <a:srgbClr val="2D68AA"/>
                </a:solidFill>
              </a:defRPr>
            </a:pPr>
            <a:r>
              <a:t>Prepare → Explore → Analyze → Segment → Validate → Communicate → Recommend</a:t>
            </a:r>
          </a:p>
          <a:p>
            <a:pPr>
              <a:defRPr sz="2200" b="1">
                <a:solidFill>
                  <a:srgbClr val="262D37"/>
                </a:solidFill>
              </a:defRPr>
            </a:pPr>
            <a:r>
              <a:t>The next growth opportunity is not simply selling more — it is getting more customers to come back.</a:t>
            </a:r>
          </a:p>
          <a:p>
            <a:pPr>
              <a:defRPr sz="1800">
                <a:solidFill>
                  <a:srgbClr val="646E7D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6E7D"/>
                </a:solidFill>
              </a:defRPr>
            </a:pPr>
            <a:r>
              <a:t>APEX PLANET DATA ANALYTICS INTERNSHIP  •  PORTFOLIO  |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