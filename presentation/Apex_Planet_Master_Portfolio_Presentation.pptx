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ya Srivastava" userId="3a85b400f9bff09d" providerId="LiveId" clId="{45B88C81-758C-4069-B42B-6DC627432E2A}"/>
    <pc:docChg chg="undo redo custSel modSld">
      <pc:chgData name="Yogya Srivastava" userId="3a85b400f9bff09d" providerId="LiveId" clId="{45B88C81-758C-4069-B42B-6DC627432E2A}" dt="2026-09-10T21:22:05.148" v="163" actId="207"/>
      <pc:docMkLst>
        <pc:docMk/>
      </pc:docMkLst>
      <pc:sldChg chg="modSp mod">
        <pc:chgData name="Yogya Srivastava" userId="3a85b400f9bff09d" providerId="LiveId" clId="{45B88C81-758C-4069-B42B-6DC627432E2A}" dt="2026-09-10T21:22:05.148" v="163" actId="207"/>
        <pc:sldMkLst>
          <pc:docMk/>
          <pc:sldMk cId="0" sldId="258"/>
        </pc:sldMkLst>
        <pc:spChg chg="mod">
          <ac:chgData name="Yogya Srivastava" userId="3a85b400f9bff09d" providerId="LiveId" clId="{45B88C81-758C-4069-B42B-6DC627432E2A}" dt="2026-09-10T21:22:05.148" v="163" actId="20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2:00.438" v="162" actId="207"/>
        <pc:sldMkLst>
          <pc:docMk/>
          <pc:sldMk cId="0" sldId="259"/>
        </pc:sldMkLst>
        <pc:spChg chg="mod">
          <ac:chgData name="Yogya Srivastava" userId="3a85b400f9bff09d" providerId="LiveId" clId="{45B88C81-758C-4069-B42B-6DC627432E2A}" dt="2026-09-10T21:22:00.438" v="162" actId="20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55.892" v="161" actId="207"/>
        <pc:sldMkLst>
          <pc:docMk/>
          <pc:sldMk cId="0" sldId="260"/>
        </pc:sldMkLst>
        <pc:spChg chg="mod">
          <ac:chgData name="Yogya Srivastava" userId="3a85b400f9bff09d" providerId="LiveId" clId="{45B88C81-758C-4069-B42B-6DC627432E2A}" dt="2026-09-10T21:21:55.892" v="161" actId="20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51.356" v="160" actId="207"/>
        <pc:sldMkLst>
          <pc:docMk/>
          <pc:sldMk cId="0" sldId="261"/>
        </pc:sldMkLst>
        <pc:spChg chg="mod">
          <ac:chgData name="Yogya Srivastava" userId="3a85b400f9bff09d" providerId="LiveId" clId="{45B88C81-758C-4069-B42B-6DC627432E2A}" dt="2026-09-10T21:21:51.356" v="160" actId="20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46.825" v="159" actId="207"/>
        <pc:sldMkLst>
          <pc:docMk/>
          <pc:sldMk cId="0" sldId="262"/>
        </pc:sldMkLst>
        <pc:spChg chg="mod">
          <ac:chgData name="Yogya Srivastava" userId="3a85b400f9bff09d" providerId="LiveId" clId="{45B88C81-758C-4069-B42B-6DC627432E2A}" dt="2026-09-10T21:21:46.825" v="159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42.006" v="158" actId="207"/>
        <pc:sldMkLst>
          <pc:docMk/>
          <pc:sldMk cId="0" sldId="263"/>
        </pc:sldMkLst>
        <pc:spChg chg="mod">
          <ac:chgData name="Yogya Srivastava" userId="3a85b400f9bff09d" providerId="LiveId" clId="{45B88C81-758C-4069-B42B-6DC627432E2A}" dt="2026-09-10T21:21:42.006" v="158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09:50.666" v="14" actId="5793"/>
          <ac:spMkLst>
            <pc:docMk/>
            <pc:sldMk cId="0" sldId="263"/>
            <ac:spMk id="5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0:33.908" v="22" actId="20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36.597" v="157" actId="207"/>
        <pc:sldMkLst>
          <pc:docMk/>
          <pc:sldMk cId="0" sldId="264"/>
        </pc:sldMkLst>
        <pc:spChg chg="mod">
          <ac:chgData name="Yogya Srivastava" userId="3a85b400f9bff09d" providerId="LiveId" clId="{45B88C81-758C-4069-B42B-6DC627432E2A}" dt="2026-09-10T21:21:36.597" v="157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0:51.046" v="28" actId="2711"/>
          <ac:spMkLst>
            <pc:docMk/>
            <pc:sldMk cId="0" sldId="264"/>
            <ac:spMk id="4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1:30.172" v="42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1:48.783" v="45" actId="20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32.331" v="156" actId="207"/>
        <pc:sldMkLst>
          <pc:docMk/>
          <pc:sldMk cId="0" sldId="265"/>
        </pc:sldMkLst>
        <pc:spChg chg="mod">
          <ac:chgData name="Yogya Srivastava" userId="3a85b400f9bff09d" providerId="LiveId" clId="{45B88C81-758C-4069-B42B-6DC627432E2A}" dt="2026-09-10T21:21:32.331" v="156" actId="207"/>
          <ac:spMkLst>
            <pc:docMk/>
            <pc:sldMk cId="0" sldId="265"/>
            <ac:spMk id="3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2:07.529" v="51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5:05.040" v="79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5:17.490" v="80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5:26.188" v="81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5:55.238" v="84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6:02.047" v="85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4:46.892" v="78" actId="207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28.146" v="155" actId="207"/>
        <pc:sldMkLst>
          <pc:docMk/>
          <pc:sldMk cId="0" sldId="266"/>
        </pc:sldMkLst>
        <pc:spChg chg="mod">
          <ac:chgData name="Yogya Srivastava" userId="3a85b400f9bff09d" providerId="LiveId" clId="{45B88C81-758C-4069-B42B-6DC627432E2A}" dt="2026-09-10T21:21:28.146" v="155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6:23.916" v="91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6:54.448" v="104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7:05.464" v="107" actId="207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23.422" v="154" actId="207"/>
        <pc:sldMkLst>
          <pc:docMk/>
          <pc:sldMk cId="0" sldId="267"/>
        </pc:sldMkLst>
        <pc:spChg chg="mod">
          <ac:chgData name="Yogya Srivastava" userId="3a85b400f9bff09d" providerId="LiveId" clId="{45B88C81-758C-4069-B42B-6DC627432E2A}" dt="2026-09-10T21:21:23.422" v="154" actId="207"/>
          <ac:spMkLst>
            <pc:docMk/>
            <pc:sldMk cId="0" sldId="267"/>
            <ac:spMk id="3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7:25.246" v="113" actId="207"/>
          <ac:spMkLst>
            <pc:docMk/>
            <pc:sldMk cId="0" sldId="267"/>
            <ac:spMk id="4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9:42.976" v="140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9:48.550" v="141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9:56.150" v="142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20:05.299" v="143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20:09.894" v="144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Yogya Srivastava" userId="3a85b400f9bff09d" providerId="LiveId" clId="{45B88C81-758C-4069-B42B-6DC627432E2A}" dt="2026-09-10T21:19:34.959" v="139" actId="207"/>
          <ac:spMkLst>
            <pc:docMk/>
            <pc:sldMk cId="0" sldId="267"/>
            <ac:spMk id="10" creationId="{00000000-0000-0000-0000-000000000000}"/>
          </ac:spMkLst>
        </pc:spChg>
      </pc:sldChg>
      <pc:sldChg chg="modSp mod">
        <pc:chgData name="Yogya Srivastava" userId="3a85b400f9bff09d" providerId="LiveId" clId="{45B88C81-758C-4069-B42B-6DC627432E2A}" dt="2026-09-10T21:21:16.688" v="153" actId="207"/>
        <pc:sldMkLst>
          <pc:docMk/>
          <pc:sldMk cId="0" sldId="268"/>
        </pc:sldMkLst>
        <pc:spChg chg="mod">
          <ac:chgData name="Yogya Srivastava" userId="3a85b400f9bff09d" providerId="LiveId" clId="{45B88C81-758C-4069-B42B-6DC627432E2A}" dt="2026-09-10T21:21:16.688" v="153" actId="207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48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601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18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37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2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9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4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829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70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2572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22665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40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840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67937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92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29079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90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9408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3091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979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42627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8578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904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28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489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8387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52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7EB483F-8F3D-426D-BA4A-43D35560F47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F3B60BF-7E0C-47DC-8D68-D1F84206A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95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284C-C537-5248-6B5E-934C33F1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995" y="666813"/>
            <a:ext cx="10468538" cy="2762187"/>
          </a:xfrm>
        </p:spPr>
        <p:txBody>
          <a:bodyPr/>
          <a:lstStyle/>
          <a:p>
            <a:pPr>
              <a:defRPr sz="3800" b="1">
                <a:solidFill>
                  <a:srgbClr val="162542"/>
                </a:solidFill>
              </a:defRPr>
            </a:pPr>
            <a:r>
              <a:rPr lang="en-IN" sz="45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</a:t>
            </a:r>
            <a:br>
              <a:rPr lang="en-IN" sz="45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5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Portfolio</a:t>
            </a:r>
            <a:b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b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Yogya Srivastava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C4AE2-2568-60BB-8D4C-07CF1374B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995" y="4242392"/>
            <a:ext cx="9201101" cy="850604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raw data to validated insights and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51390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60895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lang="en-IN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46229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lang="en-US" sz="2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 four-stage progression through the analytics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1376" y="1970642"/>
            <a:ext cx="1251221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dirty="0"/>
              <a:t>1,000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dirty="0">
                <a:solidFill>
                  <a:schemeClr val="bg1"/>
                </a:solidFill>
              </a:rPr>
              <a:t>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7558" y="164592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8857" y="1978446"/>
            <a:ext cx="184343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dirty="0"/>
              <a:t>947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dirty="0">
                <a:solidFill>
                  <a:schemeClr val="bg1"/>
                </a:solidFill>
              </a:rPr>
              <a:t>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5036" y="164592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60885" y="1960158"/>
            <a:ext cx="1531188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dirty="0"/>
              <a:t>₹139.40M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2515" y="164592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2139" y="1970642"/>
            <a:ext cx="1343637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dirty="0"/>
              <a:t>94.51%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dirty="0">
                <a:solidFill>
                  <a:schemeClr val="bg1"/>
                </a:solidFill>
              </a:rPr>
              <a:t>One-Time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49993" y="164592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48277" y="1978446"/>
            <a:ext cx="1066318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dirty="0"/>
              <a:t>5.49%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Repeat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789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D37"/>
                </a:solidFill>
              </a:defRPr>
            </a:pPr>
            <a:r>
              <a:rPr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an end-to-end workflow across four analytical tasks.</a:t>
            </a:r>
          </a:p>
          <a:p>
            <a:pPr>
              <a:spcAft>
                <a:spcPts val="1200"/>
              </a:spcAft>
              <a:defRPr sz="1700">
                <a:solidFill>
                  <a:srgbClr val="262D37"/>
                </a:solidFill>
              </a:defRPr>
            </a:pPr>
            <a:r>
              <a:rPr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Progressed from data quality and EDA to customer intelligence, statistics, and stakeholder storytelling.</a:t>
            </a:r>
          </a:p>
          <a:p>
            <a:pPr>
              <a:spcAft>
                <a:spcPts val="1200"/>
              </a:spcAft>
              <a:defRPr sz="1700">
                <a:solidFill>
                  <a:srgbClr val="262D37"/>
                </a:solidFill>
              </a:defRPr>
            </a:pPr>
            <a:r>
              <a:rPr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Focused on producing evidence that can support business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0703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00226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Analytics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81668"/>
            <a:ext cx="709360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and analytical maturity developed across the four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69748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9590" y="2107573"/>
            <a:ext cx="236702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A8C8C"/>
                </a:solidFill>
              </a:defRPr>
            </a:pPr>
            <a:r>
              <a:rPr dirty="0"/>
              <a:t>01</a:t>
            </a:r>
            <a:endParaRPr lang="en-IN" dirty="0"/>
          </a:p>
          <a:p>
            <a:pPr>
              <a:defRPr sz="2600" b="1">
                <a:solidFill>
                  <a:srgbClr val="2A8C8C"/>
                </a:solidFill>
              </a:defRPr>
            </a:pPr>
            <a:endParaRPr lang="en-IN" dirty="0"/>
          </a:p>
          <a:p>
            <a:pPr>
              <a:defRPr sz="2600" b="1">
                <a:solidFill>
                  <a:srgbClr val="2A8C8C"/>
                </a:solidFill>
              </a:defRPr>
            </a:pPr>
            <a:endParaRPr dirty="0"/>
          </a:p>
          <a:p>
            <a:pPr>
              <a:defRPr sz="1700" b="1">
                <a:solidFill>
                  <a:srgbClr val="162542"/>
                </a:solidFill>
              </a:defRPr>
            </a:pPr>
            <a:r>
              <a:rPr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</a:t>
            </a:r>
          </a:p>
          <a:p>
            <a:pPr>
              <a:defRPr sz="11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• Validate •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828800"/>
            <a:ext cx="269748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3498" y="2107573"/>
            <a:ext cx="2325060" cy="18004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8C8C"/>
                </a:solidFill>
              </a:defRPr>
            </a:pPr>
            <a:r>
              <a:rPr dirty="0"/>
              <a:t>02</a:t>
            </a:r>
            <a:endParaRPr lang="en-IN" dirty="0"/>
          </a:p>
          <a:p>
            <a:pPr>
              <a:defRPr sz="2600" b="1">
                <a:solidFill>
                  <a:srgbClr val="2A8C8C"/>
                </a:solidFill>
              </a:defRPr>
            </a:pPr>
            <a:endParaRPr lang="en-IN" dirty="0"/>
          </a:p>
          <a:p>
            <a:pPr>
              <a:defRPr sz="2600" b="1">
                <a:solidFill>
                  <a:srgbClr val="2A8C8C"/>
                </a:solidFill>
              </a:defRPr>
            </a:pPr>
            <a:endParaRPr dirty="0"/>
          </a:p>
          <a:p>
            <a:pPr>
              <a:defRPr sz="1700" b="1">
                <a:solidFill>
                  <a:srgbClr val="162542"/>
                </a:solidFill>
              </a:defRPr>
            </a:pPr>
            <a:r>
              <a:rPr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&amp; BI</a:t>
            </a:r>
          </a:p>
          <a:p>
            <a:pPr>
              <a:defRPr sz="11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• SQL • Visualize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216" y="1828800"/>
            <a:ext cx="269748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5285" y="2107013"/>
            <a:ext cx="2467342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8C8C"/>
                </a:solidFill>
              </a:defRPr>
            </a:pPr>
            <a:r>
              <a:rPr dirty="0"/>
              <a:t>03</a:t>
            </a:r>
            <a:endParaRPr lang="en-IN" dirty="0"/>
          </a:p>
          <a:p>
            <a:pPr>
              <a:defRPr sz="2600" b="1">
                <a:solidFill>
                  <a:srgbClr val="2A8C8C"/>
                </a:solidFill>
              </a:defRPr>
            </a:pPr>
            <a:endParaRPr lang="en-IN" dirty="0"/>
          </a:p>
          <a:p>
            <a:pPr>
              <a:defRPr sz="2600" b="1">
                <a:solidFill>
                  <a:srgbClr val="2A8C8C"/>
                </a:solidFill>
              </a:defRPr>
            </a:pPr>
            <a:endParaRPr dirty="0"/>
          </a:p>
          <a:p>
            <a:pPr>
              <a:defRPr sz="1700" b="1">
                <a:solidFill>
                  <a:srgbClr val="162542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Intelligence</a:t>
            </a:r>
          </a:p>
          <a:p>
            <a:pPr>
              <a:defRPr sz="11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RFM • Segment • Power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53144" y="1828800"/>
            <a:ext cx="269748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17737" y="2057400"/>
            <a:ext cx="2279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A8C8C"/>
                </a:solidFill>
              </a:defRPr>
            </a:pPr>
            <a:r>
              <a:rPr dirty="0"/>
              <a:t>04</a:t>
            </a:r>
            <a:endParaRPr lang="en-IN" dirty="0"/>
          </a:p>
          <a:p>
            <a:pPr>
              <a:defRPr sz="2600" b="1">
                <a:solidFill>
                  <a:srgbClr val="2A8C8C"/>
                </a:solidFill>
              </a:defRPr>
            </a:pPr>
            <a:endParaRPr lang="en-IN" dirty="0"/>
          </a:p>
          <a:p>
            <a:pPr>
              <a:defRPr sz="2600" b="1">
                <a:solidFill>
                  <a:srgbClr val="2A8C8C"/>
                </a:solidFill>
              </a:defRPr>
            </a:pPr>
            <a:endParaRPr dirty="0"/>
          </a:p>
          <a:p>
            <a:pPr>
              <a:defRPr sz="1700" b="1">
                <a:solidFill>
                  <a:srgbClr val="162542"/>
                </a:solidFill>
              </a:defRPr>
            </a:pPr>
            <a:r>
              <a:rPr sz="1600" dirty="0">
                <a:solidFill>
                  <a:schemeClr val="bg2"/>
                </a:solidFill>
              </a:rPr>
              <a:t>Storytelling</a:t>
            </a:r>
          </a:p>
          <a:p>
            <a:pPr>
              <a:defRPr sz="11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</a:rPr>
              <a:t>Test • Interpret • 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0703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10215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 — Data Immersion &amp;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53443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a reliable foundation for downstream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86080"/>
            <a:ext cx="108356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records processed with 33 missing cells resolved.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exact duplicate rows and 0 sales calculation errors.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 customer consistency records flagged for review.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 potential sales outliers identified rather than blindly removed.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12/12 automated validation checks passed — 100%.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0060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8345" y="4965192"/>
            <a:ext cx="1686359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12/12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Checks</a:t>
            </a:r>
            <a:endParaRPr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67558" y="480060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29638" y="4965192"/>
            <a:ext cx="213872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Cells Resolved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5036" y="480060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10389" y="4965192"/>
            <a:ext cx="163217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Outliers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40703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81124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 — EDA &amp;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3762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from clean data to business questions and analytical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887" y="1857333"/>
            <a:ext cx="1078992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Answered 7 business questions using SQLite and multi-table SQL.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descriptive, categorical, correlation, and multivariate analysis.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static Excel dashboard with KPI cards, charts, and business insights.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 generated 36.43% of total sales; Laptop led product revenue at ~₹25.44M.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Price ↔ Total Sales: 0.6863; Quantity ↔ Total Sales: 0.6466.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0703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673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 — Customer Intelligence &amp; Interactive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87030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RFM and Power BI to turn customer behavior into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55303"/>
            <a:ext cx="108204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six RFM-based customer segments.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Power BI dashboard with KPI cards, interactive slicers, segment analysis, and a recency-vs-monetary scatter plot.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Defined Total Revenue, Customer Count, Repeat Customer Rate, Average Order Value, and Revenue per Customer.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6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460 One-Time Dormant customers and 10 high-value At-Risk customers.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0060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7186" y="4965192"/>
            <a:ext cx="1468672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RFM Segments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7558" y="480060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6766" y="4965192"/>
            <a:ext cx="180446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460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One-Time Dormant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5036" y="4800600"/>
            <a:ext cx="2062886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08738" y="4965192"/>
            <a:ext cx="835485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8AA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algn="ctr">
              <a:defRPr sz="900">
                <a:solidFill>
                  <a:srgbClr val="646E7D"/>
                </a:solidFill>
              </a:defRPr>
            </a:pPr>
            <a:r>
              <a:rPr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40703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3536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 — Data Storytelling &amp; 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21758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the previous tasks into an evidence-based business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82395"/>
            <a:ext cx="107899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55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stakeholder-ready narrative: Revenue → Retention Gap → RFM Segmentation → Statistical Validation → Action.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55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a customer-level two-sided Welch independent-samples t-test.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55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913 customers were analyzed after excluding inconsistent-gender records.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550">
                <a:solidFill>
                  <a:srgbClr val="262D37"/>
                </a:solidFill>
              </a:defRPr>
            </a:pPr>
            <a:r>
              <a:rPr lang="en-I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0.534797; 95% CI = −₹10,505.79 to ₹20,230.35; Cohen's d = 0.041116.</a:t>
            </a:r>
          </a:p>
          <a:p>
            <a:pPr>
              <a:spcAft>
                <a:spcPts val="1200"/>
              </a:spcAft>
              <a:defRPr sz="1550">
                <a:solidFill>
                  <a:srgbClr val="262D37"/>
                </a:solidFill>
              </a:defRPr>
            </a:pP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55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insufficient evidence that gender is a meaningful driver of customer monetary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0703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APEX PLANET DATA ANALYTICS INTERNSHIP  •  PORTFOLIO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4678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460895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combined analysis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59" y="1782395"/>
            <a:ext cx="11597335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revenue foundation: ₹139.40M across the analyzed transactions.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 is the leading category at 36.43% of revenue.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94.51% of customers made only one transaction — the clearest growth opportunity.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RFM identifies audiences for reactivation, conversion, nurturing, protection, and recovery.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testing shows why descriptive differences should not automatically become business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0703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4257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 Developed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37817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practical analytics toolkit built across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9878"/>
            <a:ext cx="8317213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• Pandas • NumPy • Cleaning • Validation •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90097"/>
            <a:ext cx="7328096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• Statistics • Correlation • RFM •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02740"/>
            <a:ext cx="6377836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• SQLite • Excel • Power BI • DAX • KPI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67904"/>
            <a:ext cx="8815940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• Data Storytelling • PowerPoint • Business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33068"/>
            <a:ext cx="890410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Environments • Reproducible Scripts • Git • GitHub •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0703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36502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899316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technical execution toward evidence-based decision 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6371"/>
            <a:ext cx="107899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comes first: anomalies must be understood before they are removed or corrected.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grain matters: customer-level, transaction-level, and relational analyses require deliberate modeling choices.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 need a purpose: visuals and KPIs should help answer business questions.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significance matters: visible differences are not automatically meaningful.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700">
                <a:solidFill>
                  <a:srgbClr val="262D37"/>
                </a:solidFill>
              </a:defRPr>
            </a:pPr>
            <a:r>
              <a:rPr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analytics ends with action: insights should lead to clear, defensible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13446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5242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&amp; Project Repositories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48153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sz="2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implementations, outputs, and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597854"/>
            <a:ext cx="879619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https://github.com/YogyaSrivastava134/Apex-Planet-Data-Analytics-Task-1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8" y="2513147"/>
            <a:ext cx="879619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https://github.com/YogyaSrivastava134/Apex-Planet-Data-Analytics-Task-2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7" y="3427547"/>
            <a:ext cx="879619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https://github.com/YogyaSrivastava134/Apex-Planet-Data-Analytics-Task-3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6" y="4251233"/>
            <a:ext cx="879619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https://github.com/YogyaSrivastava134/Apex-Planet-Data-Analytics-Task-4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6" y="5165633"/>
            <a:ext cx="1065516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AA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</a:p>
          <a:p>
            <a:pPr>
              <a:defRPr sz="1300">
                <a:solidFill>
                  <a:srgbClr val="262D37"/>
                </a:solidFill>
              </a:defRPr>
            </a:pPr>
            <a:r>
              <a:rPr lang="en-IN"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https://github.com/YogyaSrivastava134/Yogya-Srivastava-Data-Analyst-Internship-Portfolio</a:t>
            </a:r>
            <a:endParaRPr sz="22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13446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rPr sz="1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  •  PORTFOLIO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1" y="1325880"/>
            <a:ext cx="107442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2542"/>
                </a:solidFill>
              </a:defRPr>
            </a:pPr>
            <a:r>
              <a:rPr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</a:p>
          <a:p>
            <a:pPr>
              <a:defRPr sz="2100" b="1">
                <a:solidFill>
                  <a:srgbClr val="2D68AA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→ Explore → Analyze → Segment → Validate → Communicate → Recommend</a:t>
            </a:r>
          </a:p>
          <a:p>
            <a:pPr>
              <a:defRPr sz="2200" b="1">
                <a:solidFill>
                  <a:srgbClr val="262D37"/>
                </a:solidFill>
              </a:defRPr>
            </a:pPr>
            <a:r>
              <a:rPr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next growth opportunity is not simply selling more — it is getting more customers to come back.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>
                <a:solidFill>
                  <a:srgbClr val="262D37"/>
                </a:solidFill>
              </a:defRPr>
            </a:pPr>
            <a:endParaRPr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646E7D"/>
                </a:solidFill>
              </a:defRPr>
            </a:pPr>
            <a:r>
              <a:rPr sz="22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APEX PLANET DATA ANALYTICS INTERNSHIP  •  PORTFOLIO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38</TotalTime>
  <Words>876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Neue Haas Grotesk Text Pro</vt:lpstr>
      <vt:lpstr>Times New Roman</vt:lpstr>
      <vt:lpstr>Wingdings</vt:lpstr>
      <vt:lpstr>Film Burn</vt:lpstr>
      <vt:lpstr>Apex Planet Data Analytics Internship Portfolio  Yogya Srivastava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Yogya Srivastava</dc:creator>
  <cp:lastModifiedBy>Yogya Srivastava</cp:lastModifiedBy>
  <cp:revision>1</cp:revision>
  <dcterms:created xsi:type="dcterms:W3CDTF">2026-09-10T20:29:49Z</dcterms:created>
  <dcterms:modified xsi:type="dcterms:W3CDTF">2026-09-10T21:26:07Z</dcterms:modified>
</cp:coreProperties>
</file>